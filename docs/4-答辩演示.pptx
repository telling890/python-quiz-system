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25880"/>
            <a:ext cx="109728" cy="173736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E9EDF5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D8DF7"/>
                </a:solidFill>
                <a:latin typeface="微软雅黑"/>
                <a:ea typeface="微软雅黑"/>
              </a:rPr>
              <a:t>写代码 → 立即判题 → 错题复习 → 随机组卷自测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5603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把教材第 3～5 章实验题做成一个能判题、能复盘、能组卷的桌面程序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" y="3703320"/>
            <a:ext cx="2331720" cy="1024128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3840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DC84"/>
                </a:solidFill>
                <a:latin typeface="微软雅黑"/>
                <a:ea typeface="微软雅黑"/>
              </a:rPr>
              <a:t>139 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433425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题库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21608" y="3703320"/>
            <a:ext cx="2331720" cy="1024128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2776" y="3840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4D8DF7"/>
                </a:solidFill>
                <a:latin typeface="微软雅黑"/>
                <a:ea typeface="微软雅黑"/>
              </a:rPr>
              <a:t>338 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433425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测试用例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3703320"/>
            <a:ext cx="2331720" cy="1024128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3840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5C451"/>
                </a:solidFill>
                <a:latin typeface="微软雅黑"/>
                <a:ea typeface="微软雅黑"/>
              </a:rPr>
              <a:t>5 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33425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章节覆盖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3703320"/>
            <a:ext cx="2331720" cy="1024128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3840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C678DD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433425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运行依赖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166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387"/>
                </a:solidFill>
                <a:latin typeface="微软雅黑"/>
                <a:ea typeface="微软雅黑"/>
              </a:rPr>
              <a:t>答辩人：____________      指导教师：____________      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汇报路线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从问题到交付，四个板块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0992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4D8DF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36776"/>
            <a:ext cx="6217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9EDF5"/>
                </a:solidFill>
                <a:latin typeface="微软雅黑"/>
                <a:ea typeface="微软雅黑"/>
              </a:rPr>
              <a:t>为什么做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39112"/>
            <a:ext cx="8961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教材实验题的练习现状与三个痛点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9864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4D8DF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825496"/>
            <a:ext cx="6217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9EDF5"/>
                </a:solidFill>
                <a:latin typeface="微软雅黑"/>
                <a:ea typeface="微软雅黑"/>
              </a:rPr>
              <a:t>做成了什么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27832"/>
            <a:ext cx="8961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题库、判题、学习闭环、模拟组卷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873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4D8DF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014215"/>
            <a:ext cx="6217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9EDF5"/>
                </a:solidFill>
                <a:latin typeface="微软雅黑"/>
                <a:ea typeface="微软雅黑"/>
              </a:rPr>
              <a:t>怎么做的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16552"/>
            <a:ext cx="8961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分层架构与判题引擎的两个关键设计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7492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27608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4D8DF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202936"/>
            <a:ext cx="6217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9EDF5"/>
                </a:solidFill>
                <a:latin typeface="微软雅黑"/>
                <a:ea typeface="微软雅黑"/>
              </a:rPr>
              <a:t>做得怎么样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605272"/>
            <a:ext cx="8961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测试数据、交付形态与后续计划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为什么做：刷题三难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教材 69 道实验题，学生和老师都费劲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105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6B6B"/>
                </a:solidFill>
                <a:latin typeface="微软雅黑"/>
                <a:ea typeface="微软雅黑"/>
              </a:rPr>
              <a:t>判不了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95728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E9EDF5"/>
                </a:solidFill>
                <a:latin typeface="微软雅黑"/>
                <a:ea typeface="微软雅黑"/>
              </a:rPr>
              <a:t>写完只能自己对样例，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9EDF5"/>
                </a:solidFill>
                <a:latin typeface="微软雅黑"/>
                <a:ea typeface="微软雅黑"/>
              </a:rPr>
              <a:t>边界情况全靠猜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8105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5C451"/>
                </a:solidFill>
                <a:latin typeface="微软雅黑"/>
                <a:ea typeface="微软雅黑"/>
              </a:rPr>
              <a:t>记不住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395728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E9EDF5"/>
                </a:solidFill>
                <a:latin typeface="微软雅黑"/>
                <a:ea typeface="微软雅黑"/>
              </a:rPr>
              <a:t>错题散在 .py 文件里，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9EDF5"/>
                </a:solidFill>
                <a:latin typeface="微软雅黑"/>
                <a:ea typeface="微软雅黑"/>
              </a:rPr>
              <a:t>考前找不到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8105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4D8DF7"/>
                </a:solidFill>
                <a:latin typeface="微软雅黑"/>
                <a:ea typeface="微软雅黑"/>
              </a:rPr>
              <a:t>跑不动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395728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E9EDF5"/>
                </a:solidFill>
                <a:latin typeface="微软雅黑"/>
                <a:ea typeface="微软雅黑"/>
              </a:rPr>
              <a:t>机房没装 Python，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9EDF5"/>
                </a:solidFill>
                <a:latin typeface="微软雅黑"/>
                <a:ea typeface="微软雅黑"/>
              </a:rPr>
              <a:t>发给同学也打不开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9EDF5"/>
                </a:solidFill>
                <a:latin typeface="微软雅黑"/>
                <a:ea typeface="微软雅黑"/>
              </a:rPr>
              <a:t>目标：一个双击就能用的程序，把「判题、复盘、组卷」都装进去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题库内置 → 不用找题；F5 即判 → 对错立刻知道；错题自动收集 → 复习有的放矢；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目录版免安装 → 拷到任何 Windows 电脑都能跑。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做成了什么：一个程序，四条主线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题库 → 判题 → 复盘 → 组卷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1600200" cy="475488"/>
          </a:xfrm>
          <a:prstGeom prst="roundRect">
            <a:avLst>
              <a:gd name="adj" fmla="val 4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9047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93A7"/>
                </a:solidFill>
                <a:latin typeface="微软雅黑"/>
                <a:ea typeface="微软雅黑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81328"/>
            <a:ext cx="1600200" cy="475488"/>
          </a:xfrm>
          <a:prstGeom prst="roundRect">
            <a:avLst>
              <a:gd name="adj" fmla="val 4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写代码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49047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93A7"/>
                </a:solidFill>
                <a:latin typeface="微软雅黑"/>
                <a:ea typeface="微软雅黑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81328"/>
            <a:ext cx="1600200" cy="475488"/>
          </a:xfrm>
          <a:prstGeom prst="roundRect">
            <a:avLst>
              <a:gd name="adj" fmla="val 4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F5 判题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49047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93A7"/>
                </a:solidFill>
                <a:latin typeface="微软雅黑"/>
                <a:ea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81328"/>
            <a:ext cx="1600200" cy="475488"/>
          </a:xfrm>
          <a:prstGeom prst="roundRect">
            <a:avLst>
              <a:gd name="adj" fmla="val 4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看反馈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9047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93A7"/>
                </a:solidFill>
                <a:latin typeface="微软雅黑"/>
                <a:ea typeface="微软雅黑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81328"/>
            <a:ext cx="1600200" cy="475488"/>
          </a:xfrm>
          <a:prstGeom prst="roundRect">
            <a:avLst>
              <a:gd name="adj" fmla="val 4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错题复习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149047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93A7"/>
                </a:solidFill>
                <a:latin typeface="微软雅黑"/>
                <a:ea typeface="微软雅黑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481328"/>
            <a:ext cx="1600200" cy="475488"/>
          </a:xfrm>
          <a:prstGeom prst="roundRect">
            <a:avLst>
              <a:gd name="adj" fmla="val 4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随机组卷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331720"/>
            <a:ext cx="5120640" cy="98755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2478024"/>
            <a:ext cx="64008" cy="658368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478024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9EDF5"/>
                </a:solidFill>
                <a:latin typeface="微软雅黑"/>
                <a:ea typeface="微软雅黑"/>
              </a:rPr>
              <a:t>139 道题 · 338 用例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8620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教材三章 + 拓展 + 算法，每题含提示/答案/解析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31720"/>
            <a:ext cx="5120640" cy="98755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2478024"/>
            <a:ext cx="64008" cy="65836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478024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9EDF5"/>
                </a:solidFill>
                <a:latin typeface="微软雅黑"/>
                <a:ea typeface="微软雅黑"/>
              </a:rPr>
              <a:t>逐条用例判定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8620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显示期望/实际/首个不一致的行，超时 6 秒保护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74720"/>
            <a:ext cx="5120640" cy="98755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3621024"/>
            <a:ext cx="64008" cy="658368"/>
          </a:xfrm>
          <a:prstGeom prst="roundRect">
            <a:avLst/>
          </a:prstGeom>
          <a:solidFill>
            <a:srgbClr val="F5C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621024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9EDF5"/>
                </a:solidFill>
                <a:latin typeface="微软雅黑"/>
                <a:ea typeface="微软雅黑"/>
              </a:rPr>
              <a:t>错题本 · 收藏 · 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0050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通过自动移除，进度与每题代码自动保存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74720"/>
            <a:ext cx="5120640" cy="98755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6208" y="3621024"/>
            <a:ext cx="64008" cy="658368"/>
          </a:xfrm>
          <a:prstGeom prst="roundRect">
            <a:avLst/>
          </a:prstGeom>
          <a:solidFill>
            <a:srgbClr val="C67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621024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9EDF5"/>
                </a:solidFill>
                <a:latin typeface="微软雅黑"/>
                <a:ea typeface="微软雅黑"/>
              </a:rPr>
              <a:t>模拟组卷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0050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题量/章节/难度/限时可选，交卷出得分与明细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题库全景：139 题覆盖 5 个章节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教材题按原文整理，拓展与算法题重新命题并标注来源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636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第3章 程序控制结构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18488"/>
            <a:ext cx="4937760" cy="237744"/>
          </a:xfrm>
          <a:prstGeom prst="roundRect">
            <a:avLst>
              <a:gd name="adj" fmla="val 50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80" y="1618488"/>
            <a:ext cx="1243320" cy="237744"/>
          </a:xfrm>
          <a:prstGeom prst="roundRect">
            <a:avLst>
              <a:gd name="adj" fmla="val 50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270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DC84"/>
                </a:solidFill>
                <a:latin typeface="微软雅黑"/>
                <a:ea typeface="微软雅黑"/>
              </a:rPr>
              <a:t>35 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5270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78 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68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第4章 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331720"/>
            <a:ext cx="4937760" cy="237744"/>
          </a:xfrm>
          <a:prstGeom prst="roundRect">
            <a:avLst>
              <a:gd name="adj" fmla="val 50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331720"/>
            <a:ext cx="603898" cy="237744"/>
          </a:xfrm>
          <a:prstGeom prst="roundRect">
            <a:avLst>
              <a:gd name="adj" fmla="val 50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24027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DC84"/>
                </a:solidFill>
                <a:latin typeface="微软雅黑"/>
                <a:ea typeface="微软雅黑"/>
              </a:rPr>
              <a:t>17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4027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30 用例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90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第5章 字符串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044952"/>
            <a:ext cx="4937760" cy="237744"/>
          </a:xfrm>
          <a:prstGeom prst="roundRect">
            <a:avLst>
              <a:gd name="adj" fmla="val 50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11880" y="3044952"/>
            <a:ext cx="603898" cy="237744"/>
          </a:xfrm>
          <a:prstGeom prst="roundRect">
            <a:avLst>
              <a:gd name="adj" fmla="val 50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953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DC84"/>
                </a:solidFill>
                <a:latin typeface="微软雅黑"/>
                <a:ea typeface="微软雅黑"/>
              </a:rPr>
              <a:t>17 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5351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54 用例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拓展练习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3758183"/>
            <a:ext cx="4937760" cy="237744"/>
          </a:xfrm>
          <a:prstGeom prst="roundRect">
            <a:avLst>
              <a:gd name="adj" fmla="val 50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11880" y="3758183"/>
            <a:ext cx="1420938" cy="237744"/>
          </a:xfrm>
          <a:prstGeom prst="roundRect">
            <a:avLst>
              <a:gd name="adj" fmla="val 50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66674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DC84"/>
                </a:solidFill>
                <a:latin typeface="微软雅黑"/>
                <a:ea typeface="微软雅黑"/>
              </a:rPr>
              <a:t>40 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6667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89 用例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165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进阶算法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4471416"/>
            <a:ext cx="4937760" cy="237744"/>
          </a:xfrm>
          <a:prstGeom prst="roundRect">
            <a:avLst>
              <a:gd name="adj" fmla="val 50000"/>
            </a:avLst>
          </a:prstGeom>
          <a:solidFill>
            <a:srgbClr val="232A3A"/>
          </a:solidFill>
          <a:ln w="12700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11880" y="4471416"/>
            <a:ext cx="1065703" cy="237744"/>
          </a:xfrm>
          <a:prstGeom prst="roundRect">
            <a:avLst>
              <a:gd name="adj" fmla="val 50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43799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DC84"/>
                </a:solidFill>
                <a:latin typeface="微软雅黑"/>
                <a:ea typeface="微软雅黑"/>
              </a:rPr>
              <a:t>30 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379975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3A7"/>
                </a:solidFill>
                <a:latin typeface="微软雅黑"/>
                <a:ea typeface="微软雅黑"/>
              </a:rPr>
              <a:t>87 用例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49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D8DF7"/>
                </a:solidFill>
                <a:latin typeface="微软雅黑"/>
                <a:ea typeface="微软雅黑"/>
              </a:rPr>
              <a:t>题目来源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692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教材：《Python 程序设计实验指导与习题解答》第 3～5 章（69 题，含实验解析纠错）    拓展：Python100Cases 等公开题集（40 题，重写题干、自写答案与用例）    算法：排序/查找/递归/栈/DP 入门（30 题）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一道题里有什么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题干 · 提示 · 编辑器 · 用例 · 答案与解析</a:t>
            </a:r>
          </a:p>
        </p:txBody>
      </p:sp>
      <p:pic>
        <p:nvPicPr>
          <p:cNvPr id="6" name="Picture 5" descr="crop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481328"/>
            <a:ext cx="6144768" cy="3017520"/>
          </a:xfrm>
          <a:prstGeom prst="rect">
            <a:avLst/>
          </a:prstGeom>
        </p:spPr>
      </p:pic>
      <p:pic>
        <p:nvPicPr>
          <p:cNvPr id="7" name="Picture 6" descr="crop_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33163"/>
            <a:ext cx="6400800" cy="1314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55448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题目描述 + 方法提示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828800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提示默认折叠，先自己想再看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51460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代码编辑器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788920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行号 / 语法高亮 / Tab 转 4 空格 / 自动缩进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4747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三个标签页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749039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标准输入 · 判题结果 · 参考答案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6177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3DDC84"/>
                </a:solidFill>
                <a:latin typeface="微软雅黑"/>
                <a:ea typeface="微软雅黑"/>
              </a:rPr>
              <a:t>判题结果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892040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逐条用例 + 期望 vs 实际 + 首个不一致行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8978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每道题都带提示、答案、解析和 1～5 个用例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刷题页：一屏完成读题、写码、判题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章节按钮可切换范围，题目与答案就在手边</a:t>
            </a:r>
          </a:p>
        </p:txBody>
      </p:sp>
      <p:pic>
        <p:nvPicPr>
          <p:cNvPr id="6" name="Picture 5" descr="03_practice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07" y="1371600"/>
            <a:ext cx="7577105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55448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章节范围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全部 / 第3章 / 第4章 / 第5章 / 拓展 / 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代码区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01752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行号 + 语法高亮，F5 直接跑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结果面板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全部通过后状态变绿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12064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答案页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39496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参考代码 + 易错点解析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判题反馈：错在哪一行，直接告诉你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不是「对 / 错」两个字，而是可定位的反馈</a:t>
            </a:r>
          </a:p>
        </p:txBody>
      </p:sp>
      <p:pic>
        <p:nvPicPr>
          <p:cNvPr id="6" name="Picture 5" descr="02_practice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85869"/>
            <a:ext cx="5577840" cy="3634901"/>
          </a:xfrm>
          <a:prstGeom prst="rect">
            <a:avLst/>
          </a:prstGeom>
        </p:spPr>
      </p:pic>
      <p:pic>
        <p:nvPicPr>
          <p:cNvPr id="7" name="Picture 6" descr="crop_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8317"/>
            <a:ext cx="5394960" cy="11078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88036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逐条用例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54679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通过 / 输出不同 / 运行出错 / 超时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7647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定位差异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50791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第几行不一致 + 期望 vs 实际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72583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分类提示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46903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EOF、NameError、死循环各有说明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568696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6 秒超时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84301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死循环也不会卡死界面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参考答案与解析：学会，而不只是做对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教材示范代码的问题也逐条指出</a:t>
            </a:r>
          </a:p>
        </p:txBody>
      </p:sp>
      <p:pic>
        <p:nvPicPr>
          <p:cNvPr id="6" name="Picture 5" descr="crop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97725"/>
            <a:ext cx="7315200" cy="1502228"/>
          </a:xfrm>
          <a:prstGeom prst="rect">
            <a:avLst/>
          </a:prstGeom>
        </p:spPr>
      </p:pic>
      <p:pic>
        <p:nvPicPr>
          <p:cNvPr id="7" name="Picture 6" descr="05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142" y="3108960"/>
            <a:ext cx="477077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55448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来源标注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拓展题会写明原题编号，方便回溯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5603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3DDC84"/>
                </a:solidFill>
                <a:latin typeface="微软雅黑"/>
                <a:ea typeface="微软雅黑"/>
              </a:rPr>
              <a:t>参考代码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834639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可一键载入编辑器对照运行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5661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5C451"/>
                </a:solidFill>
                <a:latin typeface="微软雅黑"/>
                <a:ea typeface="微软雅黑"/>
              </a:rPr>
              <a:t>易错点解析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40480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为什么错、正确思路、更好的写法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57200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F6B6B"/>
                </a:solidFill>
                <a:latin typeface="微软雅黑"/>
                <a:ea typeface="微软雅黑"/>
              </a:rPr>
              <a:t>教材纠错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46320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如 while 条件恒真、循环里重复打印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复盘：错题本与学习统计（含饼图）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错题自动收集，进度用图看得更明白</a:t>
            </a:r>
          </a:p>
        </p:txBody>
      </p:sp>
      <p:pic>
        <p:nvPicPr>
          <p:cNvPr id="6" name="Picture 5" descr="08_wrong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81754"/>
            <a:ext cx="5029200" cy="3277370"/>
          </a:xfrm>
          <a:prstGeom prst="rect">
            <a:avLst/>
          </a:prstGeom>
        </p:spPr>
      </p:pic>
      <p:pic>
        <p:nvPicPr>
          <p:cNvPr id="7" name="Picture 6" descr="crop_p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2020"/>
            <a:ext cx="5852160" cy="11393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154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两张饼图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4107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左：学习状态（已通过 / 需复习 / 已看题 / 未开始）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右：各章已通过数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90448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图例带数据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41605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每项显示数量与百分比，鼠标不用悬停也能读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65429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环形中心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91032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显示该图的总题数，一眼知道基量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540410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4D8DF7"/>
                </a:solidFill>
                <a:latin typeface="微软雅黑"/>
                <a:ea typeface="微软雅黑"/>
              </a:rPr>
              <a:t>与列表联动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566013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下面表格仍可点击跳题，图与表同一份数据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错题本：最近一次未通过的题自动进入，通过后移除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模拟组卷：按需出卷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题量、章节、难度、限时都可选，题库不足会明确提示</a:t>
            </a:r>
          </a:p>
        </p:txBody>
      </p:sp>
      <p:pic>
        <p:nvPicPr>
          <p:cNvPr id="6" name="Picture 5" descr="cro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572"/>
            <a:ext cx="7589520" cy="15359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3246120"/>
            <a:ext cx="7589520" cy="288036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D8DF7"/>
                </a:solidFill>
                <a:latin typeface="微软雅黑"/>
                <a:ea typeface="微软雅黑"/>
              </a:rPr>
              <a:t>组卷规则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按章节轮转抽题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840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每轮从各章剩余题里取一题，保证章节覆盖均衡，不会全抽到同一章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0740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随机且可复现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4074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用随机数生成器抽样，测试时传固定种子即可复现同一套卷子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7433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题量不足会提示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97433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可用题数少于要求时直接提示「只有 N 题，不够出 M 道」，不出半套卷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4126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考试规则同步生效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54126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3A7"/>
                </a:solidFill>
                <a:latin typeface="微软雅黑"/>
                <a:ea typeface="微软雅黑"/>
              </a:rPr>
              <a:t>限时、禁用答案入口、交卷评分都在进入考试时一起生效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5544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8DF7"/>
                </a:solidFill>
                <a:latin typeface="微软雅黑"/>
                <a:ea typeface="微软雅黑"/>
              </a:rPr>
              <a:t>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5 / 10 / 20 /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974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8DF7"/>
                </a:solidFill>
                <a:latin typeface="微软雅黑"/>
                <a:ea typeface="微软雅黑"/>
              </a:rPr>
              <a:t>章节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71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5 章任选，可多选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8DF7"/>
                </a:solidFill>
                <a:latin typeface="微软雅黑"/>
                <a:ea typeface="微软雅黑"/>
              </a:rPr>
              <a:t>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不限 / 入门 / 进阶 / 挑战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834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8DF7"/>
                </a:solidFill>
                <a:latin typeface="微软雅黑"/>
                <a:ea typeface="微软雅黑"/>
              </a:rPr>
              <a:t>限时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257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不限 / 10 / 20 / 30 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1722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DDC84"/>
                </a:solidFill>
                <a:latin typeface="微软雅黑"/>
                <a:ea typeface="微软雅黑"/>
              </a:rPr>
              <a:t>选中项高亮显示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考试模式：倒计时与进度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考试中禁用章节切换与答案入口</a:t>
            </a:r>
          </a:p>
        </p:txBody>
      </p:sp>
      <p:pic>
        <p:nvPicPr>
          <p:cNvPr id="6" name="Picture 5" descr="10_exam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55" y="1371600"/>
            <a:ext cx="7577105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55448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倒计时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剩余时间随时可见，最后 1 分钟变红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2491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实时进度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99232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已通过 x / n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9534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答案禁用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169663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按钮变灰，点了会提示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065776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超时交卷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340096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倒计时归零自动提交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交卷报告：得分、评价、逐题明细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成绩写入历史，可回看最近 10 次</a:t>
            </a:r>
          </a:p>
        </p:txBody>
      </p:sp>
      <p:pic>
        <p:nvPicPr>
          <p:cNvPr id="6" name="Picture 5" descr="crop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7666"/>
            <a:ext cx="7223760" cy="23219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224528"/>
            <a:ext cx="7223760" cy="181051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70832"/>
            <a:ext cx="6675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报告里有什么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0016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· 得分与评价：按通过率折算百分制，并给出优秀/良好/及格/需加强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· 逐题明细：通过、未通过、未作答分别标记，并记录尝试次数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· 章节分布：本次卷子各章占比，便于判断偏科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· 成绩写入历史，下次组卷可与上次对比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四个指标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2880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得分、通过题数、用时、评价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51460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3DDC84"/>
                </a:solidFill>
                <a:latin typeface="微软雅黑"/>
                <a:ea typeface="微软雅黑"/>
              </a:rPr>
              <a:t>逐题明细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889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✓ 通过 / ✗ 未通过 / — 未作答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47472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5C451"/>
                </a:solidFill>
                <a:latin typeface="微软雅黑"/>
                <a:ea typeface="微软雅黑"/>
              </a:rPr>
              <a:t>章节分布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749039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本次卷子各章占比一目了然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43484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C678DD"/>
                </a:solidFill>
                <a:latin typeface="微软雅黑"/>
                <a:ea typeface="微软雅黑"/>
              </a:rPr>
              <a:t>后续动作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709159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再来一套 / 去错题本 / 返回主页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技术架构：分层解耦，数据驱动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Python 3.8 + Tkinter + PyInstaller 5.13.2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89611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682496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4D8DF7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609344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ui.py · widgets.py · theme.py · ui_exam.py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5681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5 个页面 + 自绘控件 + DPI 缩放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10515600" cy="89611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734056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3DDC84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业务层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60904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judge.py · exam.py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00837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判题执行与比对 · 组卷/限时/评分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10515600" cy="89611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785615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F5C451"/>
          </a:solidFill>
          <a:ln w="12700">
            <a:solidFill>
              <a:srgbClr val="F5C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712463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qbank.py · bank_ch3/4/5 · bank_extra · bank_algo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59935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139 道题的题干、答案、用例、解析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17720"/>
            <a:ext cx="10515600" cy="896112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837176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C678DD"/>
          </a:solidFill>
          <a:ln w="12700">
            <a:solidFill>
              <a:srgbClr val="C67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存储层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764024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EDF5"/>
                </a:solidFill>
                <a:latin typeface="微软雅黑"/>
                <a:ea typeface="微软雅黑"/>
              </a:rPr>
              <a:t>store.py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1114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进度 / 错题 / 收藏 / 考试历史（原子写入）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DC84"/>
                </a:solidFill>
                <a:latin typeface="微软雅黑"/>
                <a:ea typeface="微软雅黑"/>
              </a:rPr>
              <a:t>判题与组卷都不依赖界面，可以脱离 GUI 单独测试——这是能快速迭代的原因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判题引擎：判得准，也不卡死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五个步骤，核心在 judge.py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965960" cy="228600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1783080"/>
            <a:ext cx="411480" cy="411480"/>
          </a:xfrm>
          <a:prstGeom prst="ellipse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847088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静态检查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8B93A7"/>
                </a:solidFill>
                <a:latin typeface="微软雅黑"/>
                <a:ea typeface="微软雅黑"/>
              </a:rPr>
              <a:t>拦截 os.system / subprocess / ctypes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1600200"/>
            <a:ext cx="1965960" cy="228600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58183" y="1783080"/>
            <a:ext cx="411480" cy="411480"/>
          </a:xfrm>
          <a:prstGeom prst="ellipse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1847088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3" y="233172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重定向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3" y="288036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8B93A7"/>
                </a:solidFill>
                <a:latin typeface="微软雅黑"/>
                <a:ea typeface="微软雅黑"/>
              </a:rPr>
              <a:t>stdout→StringIO，input() 不回显提示语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1600200"/>
            <a:ext cx="1965960" cy="228600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16168" y="1783080"/>
            <a:ext cx="411480" cy="411480"/>
          </a:xfrm>
          <a:prstGeom prst="ellipse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847088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33172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超时看门狗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88036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8B93A7"/>
                </a:solidFill>
                <a:latin typeface="微软雅黑"/>
                <a:ea typeface="微软雅黑"/>
              </a:rPr>
              <a:t>sys.settrace 计时，抛 BaseException 子类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1600200"/>
            <a:ext cx="1965960" cy="228600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74152" y="1783080"/>
            <a:ext cx="411480" cy="411480"/>
          </a:xfrm>
          <a:prstGeom prst="ellipse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1847088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233172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执行与捕获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288036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8B93A7"/>
                </a:solidFill>
                <a:latin typeface="微软雅黑"/>
                <a:ea typeface="微软雅黑"/>
              </a:rPr>
              <a:t>EOFError / 语法错误 / 运行错误分类提示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1600200"/>
            <a:ext cx="1965960" cy="228600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32136" y="1783080"/>
            <a:ext cx="411480" cy="411480"/>
          </a:xfrm>
          <a:prstGeom prst="ellipse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32136" y="1847088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F1117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233172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E9EDF5"/>
                </a:solidFill>
                <a:latin typeface="微软雅黑"/>
                <a:ea typeface="微软雅黑"/>
              </a:rPr>
              <a:t>归一化比对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288036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8B93A7"/>
                </a:solidFill>
                <a:latin typeface="微软雅黑"/>
                <a:ea typeface="微软雅黑"/>
              </a:rPr>
              <a:t>忽略行尾空格；图形题保留缩进精确比对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160520"/>
            <a:ext cx="10515600" cy="173736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31596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为什么进程内执行，而不是起子进程？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66344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打包成 exe 后 sys.executable 指向 exe 自身，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起子进程会变成再启动一个刷题程序。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315968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D8DF7"/>
                </a:solidFill>
                <a:latin typeface="微软雅黑"/>
                <a:ea typeface="微软雅黑"/>
              </a:rPr>
              <a:t>为什么目录版而不是单文件？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6634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单文件启动要解压到 %TEMP%，个别机器会失败；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目录版不解压，实测把 TEMP 指到不存在路径也能跑。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质量保障：能自动测的都自动测了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四类测试，全部通过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468880" cy="105156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9105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DC84"/>
                </a:solidFill>
                <a:latin typeface="微软雅黑"/>
                <a:ea typeface="微软雅黑"/>
              </a:rPr>
              <a:t>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84831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道题自检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468880" cy="105156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59105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4D8DF7"/>
                </a:solidFill>
                <a:latin typeface="微软雅黑"/>
                <a:ea typeface="微软雅黑"/>
              </a:rPr>
              <a:t>338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84831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个用例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468880" cy="105156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9105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5C451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1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组卷自检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63040"/>
            <a:ext cx="2468880" cy="1051560"/>
          </a:xfrm>
          <a:prstGeom prst="roundRect">
            <a:avLst>
              <a:gd name="adj" fmla="val 4000"/>
            </a:avLst>
          </a:prstGeom>
          <a:solidFill>
            <a:srgbClr val="1A1E29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9105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C678DD"/>
                </a:solidFill>
                <a:latin typeface="微软雅黑"/>
                <a:ea typeface="微软雅黑"/>
              </a:rPr>
              <a:t>13 + 10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84831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交互 + 边界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2788920"/>
          <a:ext cx="109728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669280"/>
                <a:gridCol w="1737360"/>
                <a:gridCol w="146304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109728" anchor="ctr"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覆盖内容</a:t>
                      </a:r>
                    </a:p>
                  </a:txBody>
                  <a:tcPr marL="109728" anchor="ctr"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规模</a:t>
                      </a:r>
                    </a:p>
                  </a:txBody>
                  <a:tcPr marL="109728" anchor="ctr"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109728" anchor="ctr">
                    <a:solidFill>
                      <a:srgbClr val="232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题库自检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8B93A7"/>
                          </a:solidFill>
                          <a:latin typeface="微软雅黑"/>
                          <a:ea typeface="微软雅黑"/>
                        </a:rPr>
                        <a:t>参考答案跑自己的用例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139 题 / 338 用例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DC84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组卷自检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8B93A7"/>
                          </a:solidFill>
                          <a:latin typeface="微软雅黑"/>
                          <a:ea typeface="微软雅黑"/>
                        </a:rPr>
                        <a:t>随机性/覆盖/过滤/评分/限时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10 项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DC84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交互测试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8B93A7"/>
                          </a:solidFill>
                          <a:latin typeface="微软雅黑"/>
                          <a:ea typeface="微软雅黑"/>
                        </a:rPr>
                        <a:t>判题、错题、收藏、统计、组卷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13 项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DC84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边界测试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8B93A7"/>
                          </a:solidFill>
                          <a:latin typeface="微软雅黑"/>
                          <a:ea typeface="微软雅黑"/>
                        </a:rPr>
                        <a:t>死循环、输入不足、语法错误、危险调用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10 项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DC84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 marL="109728" anchor="ctr">
                    <a:solidFill>
                      <a:srgbClr val="0F11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打包验证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8B93A7"/>
                          </a:solidFill>
                          <a:latin typeface="微软雅黑"/>
                          <a:ea typeface="微软雅黑"/>
                        </a:rPr>
                        <a:t>启动、图标、进度、高分屏、TEMP 无关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9EDF5"/>
                          </a:solidFill>
                          <a:latin typeface="微软雅黑"/>
                          <a:ea typeface="微软雅黑"/>
                        </a:rPr>
                        <a:t>7 项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DDC84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 marL="109728" anchor="ctr">
                    <a:solidFill>
                      <a:srgbClr val="1A1E2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3A7"/>
                </a:solidFill>
                <a:latin typeface="微软雅黑"/>
                <a:ea typeface="微软雅黑"/>
              </a:rPr>
              <a:t>修过的典型问题：单文件解压失败 → 改目录版；DPI 未适配 → 按屏缩放；完数题超时 → 改 √n 枚举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交付与部署：拷过去就能用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免安装目录版 + 便携 zip，不依赖 %TEMP%</a:t>
            </a:r>
          </a:p>
        </p:txBody>
      </p:sp>
      <p:pic>
        <p:nvPicPr>
          <p:cNvPr id="6" name="Picture 5" descr="exe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36" y="1463040"/>
            <a:ext cx="666254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554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D8DF7"/>
                </a:solidFill>
                <a:latin typeface="微软雅黑"/>
                <a:ea typeface="微软雅黑"/>
              </a:rPr>
              <a:t>21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6002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目录版，含 Python 运行库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697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D8DF7"/>
                </a:solidFill>
                <a:latin typeface="微软雅黑"/>
                <a:ea typeface="微软雅黑"/>
              </a:rPr>
              <a:t>8.9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7432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便携 zip，解压即用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840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D8DF7"/>
                </a:solidFill>
                <a:latin typeface="微软雅黑"/>
                <a:ea typeface="微软雅黑"/>
              </a:rPr>
              <a:t>0 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8862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目标机不需装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983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D8DF7"/>
                </a:solidFill>
                <a:latin typeface="微软雅黑"/>
                <a:ea typeface="微软雅黑"/>
              </a:rPr>
              <a:t>1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0292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3A7"/>
                </a:solidFill>
                <a:latin typeface="微软雅黑"/>
                <a:ea typeface="微软雅黑"/>
              </a:rPr>
              <a:t>启动速度（不再解压临时文件）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9893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F5C451"/>
                </a:solidFill>
                <a:latin typeface="微软雅黑"/>
                <a:ea typeface="微软雅黑"/>
              </a:rPr>
              <a:t>首次运行如遇 SmartScreen：更多信息 → 仍要运行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B5266"/>
                </a:solidFill>
                <a:latin typeface="微软雅黑"/>
                <a:ea typeface="微软雅黑"/>
              </a:rPr>
              <a:t>Python 程序设计刷题系统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2296" cy="457200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9EDF5"/>
                </a:solidFill>
                <a:latin typeface="微软雅黑"/>
                <a:ea typeface="微软雅黑"/>
              </a:rPr>
              <a:t>总结与下一步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05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B93A7"/>
                </a:solidFill>
                <a:latin typeface="微软雅黑"/>
                <a:ea typeface="微软雅黑"/>
              </a:rPr>
              <a:t>把教材题变成可练、可测、可复盘的工具体系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DDC84"/>
                </a:solidFill>
                <a:latin typeface="微软雅黑"/>
                <a:ea typeface="微软雅黑"/>
              </a:rPr>
              <a:t>做完了什么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29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139 题四类题库，338 个用例全部自检通过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判题引擎：沙箱执行 + 超时保护 + 归一化比对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学习闭环：错题本 / 收藏 / 统计 / 进度保存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模拟组卷：随机出卷 + 限时 + 交卷报告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免安装目录版 + 5 份项目文档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5C451"/>
                </a:solidFill>
                <a:latin typeface="微软雅黑"/>
                <a:ea typeface="微软雅黑"/>
              </a:rPr>
              <a:t>还能怎么走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函数题 / 文件题（判题需要新的执行约定）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按错题加权的智能组卷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成绩趋势与章节正确率曲线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DF5"/>
                </a:solidFill>
                <a:latin typeface="微软雅黑"/>
                <a:ea typeface="微软雅黑"/>
              </a:rPr>
              <a:t>· 机房多人使用：导出成绩 / Web 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232A3A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E9EDF5"/>
                </a:solidFill>
                <a:latin typeface="微软雅黑"/>
                <a:ea typeface="微软雅黑"/>
              </a:rPr>
              <a:t>谢谢各位老师，请批评指正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